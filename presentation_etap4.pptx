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7" r:id="rId9"/>
    <p:sldId id="262" r:id="rId10"/>
    <p:sldId id="266" r:id="rId11"/>
    <p:sldId id="268" r:id="rId12"/>
    <p:sldId id="263" r:id="rId13"/>
    <p:sldId id="264" r:id="rId14"/>
    <p:sldId id="265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9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731752" cy="54864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280160" cy="1280160"/>
          </a:xfrm>
          <a:prstGeom prst="rect">
            <a:avLst/>
          </a:prstGeom>
          <a:solidFill>
            <a:srgbClr val="1E5F9E"/>
          </a:solidFill>
          <a:ln w="25400">
            <a:solidFill>
              <a:srgbClr val="27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27AEE4"/>
                </a:solidFill>
                <a:latin typeface="Calibri"/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801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Агрегатор новостей
по кибербезопасности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7AEE4"/>
                </a:solidFill>
                <a:latin typeface="Calibri"/>
              </a:rPr>
              <a:t>с тематической классификацией на основе методов машинного обучения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520440"/>
            <a:ext cx="7315200" cy="36576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0" y="3657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A8D"/>
                </a:solidFill>
                <a:latin typeface="Calibri"/>
              </a:rPr>
              <a:t>Итоговое выступление по учебному проекту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A8D"/>
                </a:solidFill>
                <a:latin typeface="Calibri"/>
              </a:rPr>
              <a:t>Язык реализации: R  •  Развёртывание: Docker  •  Хранилище: ClickHouse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578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Постановка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Зачем нужен этот проект?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73152" cy="5029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Информационный поток по кибербезопасности огромен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Специалистам сложно вручную отслеживать сотни источников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Нет единого инструмента для автоматического сбора и категоризации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Сложно выявлять тренды и связывать события между собой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Отсутствует удобный интерфейс для аналитики и ИИ-систем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17320"/>
            <a:ext cx="5943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1417320"/>
            <a:ext cx="73152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Calibri"/>
              </a:rPr>
              <a:t>Цель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6596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Автоматически собирать новости из множества RSS-источников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Нормализовать и классифицировать статьи по темам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Сохранять данные в аналитическое хранилище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Визуализировать статистику через интерактивную панель</a:t>
            </a:r>
          </a:p>
          <a:p>
            <a:pPr algn="l"/>
            <a:r>
              <a:rPr sz="1400" b="0">
                <a:solidFill>
                  <a:srgbClr val="14233A"/>
                </a:solidFill>
                <a:latin typeface="Calibri"/>
              </a:rPr>
              <a:t>• Предоставить интерфейс для внешних ИИ-систем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Общая схема потока данных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1920240" cy="10972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4688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RSS-
источники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286000"/>
            <a:ext cx="1920240" cy="10972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0" y="24688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TT-RSS
(Агрегатор)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286000"/>
            <a:ext cx="1920240" cy="10972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Планировщик
(Сбор)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286000"/>
            <a:ext cx="1920240" cy="1097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4688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Обработка
и классиф.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286000"/>
            <a:ext cx="1920240" cy="10972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24688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ClickHouse
(Хранилище)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6517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5F9E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931920"/>
            <a:ext cx="182880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400507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Аналитическая
панель (Shiny)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3931920"/>
            <a:ext cx="1828800" cy="9144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0" y="400507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Интерфейс
для ИИ-агентов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E44AD"/>
                </a:solidFill>
                <a:latin typeface="Calibri"/>
              </a:rPr>
              <a:t>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A085"/>
                </a:solidFill>
                <a:latin typeface="Calibri"/>
              </a:rPr>
              <a:t>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4864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A8D"/>
                </a:solidFill>
                <a:latin typeface="Calibri"/>
              </a:rPr>
              <a:t>Ключевой принцип: планировщик обновляет данные циклически, без ручного запуска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417320"/>
            <a:ext cx="11612880" cy="640080"/>
          </a:xfrm>
          <a:prstGeom prst="rect">
            <a:avLst/>
          </a:prstGeom>
          <a:solidFill>
            <a:srgbClr val="EBF3FB"/>
          </a:solidFill>
          <a:ln w="12700">
            <a:solidFill>
              <a:srgbClr val="BBC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1463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5F9E"/>
                </a:solidFill>
                <a:latin typeface="Calibri"/>
              </a:rPr>
              <a:t>7 контейнерных служб  •  5 ступеней обработки  •  автоматическое восстановление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Сбор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Источники и механизм получения новостей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" cy="502920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9E"/>
                </a:solidFill>
                <a:latin typeface="Calibri"/>
              </a:rPr>
              <a:t>TT-RSS — агрегатор RSS-лент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745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Самостоятельно размещаемый агрегатор новостных лент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Поддерживает JSON API для программного чтения статей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Хранит новости в базе данных PostgreSQL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Позволяет подписываться на произвольные RSS-источники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Автоматически обновляет ленты по расписанию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Открытый исходный код, бесплатное использование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17320"/>
            <a:ext cx="5852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417320"/>
            <a:ext cx="54864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Тематика источников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87452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Разведка угроз и вредоносное программное обеспечение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Инциденты информационной безопасности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Обнаруженные уязвимости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Мошенничество и целевые атаки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Общие новости кибербезопасности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886200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3886200"/>
            <a:ext cx="54864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3977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Механизм сбора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434340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R-модуль api.R реализует клиент TT-RSS JSON API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Планировщик запускает сбор каждые N секунд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Настраиваемый лимит статей за один цикл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Автоматическое добавление тематических лент при старте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Повторные попытки при сетевых ошибках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47A84-86CF-4640-952C-F3F115FE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S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0DB61A3-5EB5-4EBB-A7BC-D6A02D50B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536553"/>
            <a:ext cx="12188825" cy="5264807"/>
          </a:xfrm>
        </p:spPr>
      </p:pic>
    </p:spTree>
    <p:extLst>
      <p:ext uri="{BB962C8B-B14F-4D97-AF65-F5344CB8AC3E}">
        <p14:creationId xmlns:p14="http://schemas.microsoft.com/office/powerpoint/2010/main" val="273312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Обработка и нормализация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Этапы преобразования сырых статей в структурированные записи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2103120" cy="91440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5544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
Загрузка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514600"/>
            <a:ext cx="2103120" cy="9144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2560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233A"/>
                </a:solidFill>
                <a:latin typeface="Calibri"/>
              </a:rPr>
              <a:t>Получение статей
через API TT-RSS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1828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508760"/>
            <a:ext cx="2103120" cy="91440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40" y="15544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
Очистка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514600"/>
            <a:ext cx="2103120" cy="9144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2560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233A"/>
                </a:solidFill>
                <a:latin typeface="Calibri"/>
              </a:rPr>
              <a:t>Удаление HTML-тегов,
спецсимволов, дублей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1828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1508760"/>
            <a:ext cx="2103120" cy="91440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15544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
Норм-ция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2514600"/>
            <a:ext cx="2103120" cy="9144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560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233A"/>
                </a:solidFill>
                <a:latin typeface="Calibri"/>
              </a:rPr>
              <a:t>Унификация полей:
дата, источник, текст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1828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508760"/>
            <a:ext cx="210312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15544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
Классиф.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2514600"/>
            <a:ext cx="2103120" cy="9144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0920" y="2560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233A"/>
                </a:solidFill>
                <a:latin typeface="Calibri"/>
              </a:rPr>
              <a:t>Присвоение тематической
метки каждой статье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18288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5F9E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38360" y="1508760"/>
            <a:ext cx="210312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8360" y="15544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
Запись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2514600"/>
            <a:ext cx="2103120" cy="9144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38360" y="2560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4233A"/>
                </a:solidFill>
                <a:latin typeface="Calibri"/>
              </a:rPr>
              <a:t>Сохранение в
ClickHouse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49039"/>
            <a:ext cx="5669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3749039"/>
            <a:ext cx="54864" cy="274320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" y="38404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9E"/>
                </a:solidFill>
                <a:latin typeface="Calibri"/>
              </a:rPr>
              <a:t>Поля нормализованной записи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420623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Идентификатор статьи (article_id)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Заголовок и текстовое содержимое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Дата публикации и дата загрузки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Название и идентификатор источника (фид)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Тематическая метка (topic_label)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URL оригинальной статьи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749039"/>
            <a:ext cx="5760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26480" y="3749039"/>
            <a:ext cx="54864" cy="274320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6208" y="384047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E4"/>
                </a:solidFill>
                <a:latin typeface="Calibri"/>
              </a:rPr>
              <a:t>Гарантии качества данных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4206239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Пустые значения заменяются на допустимые по умолчанию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Дубликаты обновляются, а не дублируются (UPSERT)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Запись без имён строк (row.names = FALSE)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Таблицы создаются автоматически при первом запуске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Проверка критических полей: заголовок, содержимое, тема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Тематическая классификация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Методы машинного обучения и обработки естественного языка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63040"/>
            <a:ext cx="2834640" cy="10972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087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LDA
(Тематическое
моделирование)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6060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697480"/>
            <a:ext cx="2651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Статистическая модель скрытого
размещения Дирихле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Не требует разметки данных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Базовый метод по умолчанию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Быстрый и стабильный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463040"/>
            <a:ext cx="283464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82112" y="15087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K-средних
(K-Means)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26060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3552" y="2697480"/>
            <a:ext cx="2651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Кластеризация по TF-IDF
представлениям текстов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Простой эталонный метод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Без обращений к внешним
сервисам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Хорош для первичного анализа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463040"/>
            <a:ext cx="283464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15087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Yandex
YandexGPT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26060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4" y="2697480"/>
            <a:ext cx="2651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Классификация через
внешнюю языковую модель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Фиксированная таксономия тем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Кэширование ответов модели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Повторные попытки при
ошибках 429/5xx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1463040"/>
            <a:ext cx="28346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0576" y="150876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Универсальный
LLM-классификатор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2606040"/>
            <a:ext cx="2834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72016" y="2697480"/>
            <a:ext cx="2651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OpenAI, Anthropic, Gemini,
DeepSeek, локальные модели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Единый интерфейс через ellmer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Настраивается переменными
окружения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Закрытое множество меток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5897880"/>
            <a:ext cx="1179576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9E"/>
                </a:solidFill>
                <a:latin typeface="Calibri"/>
              </a:rPr>
              <a:t>Единая таксономия тем: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9436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Разведка угроз  •  Вредоносное ПО  •  Уязвимости  •  Инциденты  •  Целевые атаки  •  Общее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4A94D-A1CF-4993-BBAC-989671DF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917E0FD-3931-424E-9EA4-D3104956F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25158"/>
            <a:ext cx="12188825" cy="5436329"/>
          </a:xfrm>
        </p:spPr>
      </p:pic>
    </p:spTree>
    <p:extLst>
      <p:ext uri="{BB962C8B-B14F-4D97-AF65-F5344CB8AC3E}">
        <p14:creationId xmlns:p14="http://schemas.microsoft.com/office/powerpoint/2010/main" val="734242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Хранение и визуализация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Аналитическое хранилище и интерактивная информационная панель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" cy="502920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9E"/>
                </a:solidFill>
                <a:latin typeface="Calibri"/>
              </a:rPr>
              <a:t>ClickHouse — хранилище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7452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Колоночная база данных для аналитических запросов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Таблица articles — все нормализованные статьи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Таблица feeds — зарегистрированные источники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Таблица topic_summary — агрегаты по темам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Высокая скорость выборки и агрегации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Запросы с оператором FINAL (дедупликация)</a:t>
            </a:r>
          </a:p>
          <a:p>
            <a:pPr algn="l"/>
            <a:r>
              <a:rPr sz="1200" b="0">
                <a:solidFill>
                  <a:srgbClr val="14233A"/>
                </a:solidFill>
                <a:latin typeface="Calibri"/>
              </a:rPr>
              <a:t>• Поддержка SQL, интеграция с R через DBI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17320"/>
            <a:ext cx="5943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0" y="1417320"/>
            <a:ext cx="73152" cy="5029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  <a:latin typeface="Calibri"/>
              </a:rPr>
              <a:t>Аналитическая панель — Shiny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011680"/>
            <a:ext cx="10972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20391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Обзор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0574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Сводные метрики, диаграммы распределения тем, динамика публикаций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697480"/>
            <a:ext cx="10972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27249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Новости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7432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Таблица статей с фильтрами по теме, источнику и дате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383280"/>
            <a:ext cx="10972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4107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Источники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Статистика по RSS-лентам: количество статей, активность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069080"/>
            <a:ext cx="109728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409651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Настройки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1148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Переключение метода классификации без перезапуска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0292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A8D"/>
                </a:solidFill>
                <a:latin typeface="Calibri"/>
              </a:rPr>
              <a:t>Используются библиотеки: shiny, shinydashboard, plotly, DT, wordcloud2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F4CF8-746D-4EE4-AE85-05500AC6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54DF17D-5F49-483C-B616-4B91E4DF6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938791"/>
            <a:ext cx="12188825" cy="5258809"/>
          </a:xfrm>
        </p:spPr>
      </p:pic>
    </p:spTree>
    <p:extLst>
      <p:ext uri="{BB962C8B-B14F-4D97-AF65-F5344CB8AC3E}">
        <p14:creationId xmlns:p14="http://schemas.microsoft.com/office/powerpoint/2010/main" val="3382634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59123-F280-4C6C-97EA-FC6E7396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B49E1EDF-5D64-4E5F-B8D5-BC1AD0EDA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846138"/>
            <a:ext cx="12188825" cy="5312434"/>
          </a:xfrm>
        </p:spPr>
      </p:pic>
    </p:spTree>
    <p:extLst>
      <p:ext uri="{BB962C8B-B14F-4D97-AF65-F5344CB8AC3E}">
        <p14:creationId xmlns:p14="http://schemas.microsoft.com/office/powerpoint/2010/main" val="3997728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Интерфейс для ИИ-агентов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Протокол модельного контекста (MCP) — JSON-RPC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" cy="2286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085"/>
                </a:solidFill>
                <a:latin typeface="Calibri"/>
              </a:rPr>
              <a:t>Что такое протокол MCP?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745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Стандарт взаимодействия ИИ-систем с инструментами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Сервер принимает вызовы по формату JSON-RPC 2.0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Позволяет языковым моделям запрашивать данные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Реализован на R через библиотеку plumber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40480"/>
            <a:ext cx="53949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3840480"/>
            <a:ext cx="54864" cy="260604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F9E"/>
                </a:solidFill>
                <a:latin typeface="Calibri"/>
              </a:rPr>
              <a:t>Доступные методы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29768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search_articles — поиск статей по запросу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get_topic_summary — агрегаты по тематическим группам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get_recent_articles — последние поступившие статьи</a:t>
            </a: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• get_feed_stats — статистика по источникам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943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1417320"/>
            <a:ext cx="73152" cy="5029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085"/>
                </a:solidFill>
                <a:latin typeface="Calibri"/>
              </a:rPr>
              <a:t>Принцип работы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659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1. ИИ-агент отправляет запрос на http://localhost:8000/mcp</a:t>
            </a:r>
          </a:p>
          <a:p>
            <a:pPr algn="l"/>
            <a:endParaRPr sz="1300" b="0">
              <a:solidFill>
                <a:srgbClr val="14233A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2. Сервер принимает JSON-RPC вызов и разбирает параметры</a:t>
            </a:r>
          </a:p>
          <a:p>
            <a:pPr algn="l"/>
            <a:endParaRPr sz="1300" b="0">
              <a:solidFill>
                <a:srgbClr val="14233A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3. Выполняется SQL-запрос к ClickHouse с готовыми данными</a:t>
            </a:r>
          </a:p>
          <a:p>
            <a:pPr algn="l"/>
            <a:endParaRPr sz="1300" b="0">
              <a:solidFill>
                <a:srgbClr val="14233A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4. Результат возвращается агенту в формате JSON</a:t>
            </a:r>
          </a:p>
          <a:p>
            <a:pPr algn="l"/>
            <a:endParaRPr sz="1300" b="0">
              <a:solidFill>
                <a:srgbClr val="14233A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14233A"/>
                </a:solidFill>
                <a:latin typeface="Calibri"/>
              </a:rPr>
              <a:t>5. Сервер не выполняет классификацию — только читает данные</a:t>
            </a:r>
          </a:p>
          <a:p>
            <a:pPr algn="l"/>
            <a:endParaRPr sz="1300" b="0">
              <a:solidFill>
                <a:srgbClr val="14233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Инфраструктура и развёртывание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Контейнеризация всего стека с помощью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63040"/>
            <a:ext cx="2834640" cy="457200"/>
          </a:xfrm>
          <a:prstGeom prst="rect">
            <a:avLst/>
          </a:prstGeom>
          <a:solidFill>
            <a:srgbClr val="6B7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ttrss-db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9202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0116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База данных PostgreSQL для хранения
лент и статей TT-RSS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834640" cy="45720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ttrss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20116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Веб-интерфейс и JSON API
агрегатора новостей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2834640" cy="45720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ttrss-init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Одноразовый контейнер:
включает API-доступ при старте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63040"/>
            <a:ext cx="2834640" cy="45720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08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clickhouse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9202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201168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Аналитическое хранилище:
columnar база данных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611880"/>
            <a:ext cx="283464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" y="3657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scheduler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06908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41605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Планировщик: запускает сбор
по расписанию (основной контур)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11880"/>
            <a:ext cx="28346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3657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shiny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406908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0" y="41605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Аналитическая панель:
интерактивный веб-интерфейс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611880"/>
            <a:ext cx="2834640" cy="457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3657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6908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16052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Сервер протокола модельного
контекста для ИИ-агентов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5806440"/>
            <a:ext cx="1179576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5897880"/>
            <a:ext cx="1179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5F9E"/>
                </a:solidFill>
                <a:latin typeface="Calibri"/>
              </a:rPr>
              <a:t>Запуск всего стека: docker compose up -d --build   •   Единая точка конфигурации: файл .env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Итоги и достижения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7AEE4"/>
                </a:solidFill>
                <a:latin typeface="Calibri"/>
              </a:rPr>
              <a:t>Что реализовано и что планируется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3794760" cy="438912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Полный конвейер данных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01952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975104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Сбор → нормализация → классификация → хранение → визуализация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463040"/>
            <a:ext cx="3794760" cy="43891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50876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 метода классификации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1901952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975104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LDA, K-средних, YandexGPT, универсальный LLM-классификатор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8" y="1463040"/>
            <a:ext cx="379476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8" y="150876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Автоматическое восстановление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8" y="1901952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8" y="1975104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Планировщик сам восстанавливает схему и данные после сброса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154680"/>
            <a:ext cx="3794760" cy="43891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32004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Интерфейс для ИИ-систем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593592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666744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Протокол модельного контекста (MCP) с 4 методами получения данных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39" y="3154680"/>
            <a:ext cx="3794760" cy="438912"/>
          </a:xfrm>
          <a:prstGeom prst="rect">
            <a:avLst/>
          </a:prstGeom>
          <a:solidFill>
            <a:srgbClr val="27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79" y="32004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Пакет на языке 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39" y="3593592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79" y="3666744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Оформлен как R-пакет с тестами, документацией и модульной структурой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8" y="3154680"/>
            <a:ext cx="3794760" cy="43891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18" y="32004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Простое развёртывание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8" y="3593592"/>
            <a:ext cx="3794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8" y="3666744"/>
            <a:ext cx="3611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Одна команда запускает весь стек из 7 контейнерных служб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5074920"/>
            <a:ext cx="11704320" cy="1554480"/>
          </a:xfrm>
          <a:prstGeom prst="rect">
            <a:avLst/>
          </a:prstGeom>
          <a:solidFill>
            <a:srgbClr val="EAF4FF"/>
          </a:solidFill>
          <a:ln w="12700">
            <a:solidFill>
              <a:srgbClr val="BBC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8600" y="5074920"/>
            <a:ext cx="73152" cy="1554480"/>
          </a:xfrm>
          <a:prstGeom prst="rect">
            <a:avLst/>
          </a:prstGeom>
          <a:solidFill>
            <a:srgbClr val="1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5F9E"/>
                </a:solidFill>
                <a:latin typeface="Calibri"/>
              </a:rPr>
              <a:t>Перспективы развития: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" y="55321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4233A"/>
                </a:solidFill>
                <a:latin typeface="Calibri"/>
              </a:rPr>
              <a:t>Поддержка нескольких языков  •  Оповещения о критических инцидентах  •  Связи между событиями  •  Интеграция с системами управления угрозами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1036</Words>
  <Application>Microsoft Office PowerPoint</Application>
  <PresentationFormat>Произвольный</PresentationFormat>
  <Paragraphs>187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Artem Frank</dc:creator>
  <cp:keywords/>
  <dc:description>generated using python-pptx</dc:description>
  <cp:lastModifiedBy>Artem</cp:lastModifiedBy>
  <cp:revision>4</cp:revision>
  <dcterms:created xsi:type="dcterms:W3CDTF">2013-01-27T09:14:16Z</dcterms:created>
  <dcterms:modified xsi:type="dcterms:W3CDTF">2026-05-15T16:40:10Z</dcterms:modified>
  <cp:category/>
</cp:coreProperties>
</file>