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oppins Light" panose="00000400000000000000" pitchFamily="2" charset="0"/>
      <p:regular r:id="rId18"/>
    </p:embeddedFont>
    <p:embeddedFont>
      <p:font typeface="Roboto Light" panose="02000000000000000000" pitchFamily="2" charset="0"/>
      <p:regular r:id="rId19"/>
    </p:embeddedFont>
  </p:embeddedFontLst>
  <p:defaultTextStyle>
    <a:defPPr>
      <a:defRPr lang="en-A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56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0"/>
            <a:ext cx="1463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0783"/>
            <a:ext cx="1157978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Разработка аналитического программного комплекса на языке R для автоматизированного сбора и тематической обработки новостей по информационной безопасности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84840"/>
            <a:ext cx="115797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R-пакет для ETL, тематической классификации, хранения данных в ClickHouse, визуализации и интеграции с ИИ-агентами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365796"/>
            <a:ext cx="115797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Петров А., Соколов И., Атавин Д., Франк А.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71008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Актуальность разработки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074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4725"/>
            <a:ext cx="28683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Рост объёма данных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Объем новостей по информационной безопасности постоянно увеличивается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074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074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Временные затраты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05514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Ручной мониторинг RSS-источников требует значительных временных затрат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0743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074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Качество данных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05514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Новостной поток содержит шум, дублирование и слабоструктурированные данные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62795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62795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4885253"/>
            <a:ext cx="3328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Потребность аналитика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375672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Аналитику необходима не лента сообщений, а систематизированная картина угроз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62795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62795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Доступность для ИИ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37567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Актуальные данные должны быть доступны не только человеку, но и ИИ-системам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139" y="919877"/>
            <a:ext cx="5219224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Цель и задачи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22139" y="1801535"/>
            <a:ext cx="12786003" cy="1234083"/>
          </a:xfrm>
          <a:prstGeom prst="roundRect">
            <a:avLst>
              <a:gd name="adj" fmla="val 6307"/>
            </a:avLst>
          </a:prstGeom>
          <a:solidFill>
            <a:srgbClr val="25252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00" y="2069068"/>
            <a:ext cx="231577" cy="185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238" y="1999178"/>
            <a:ext cx="11998643" cy="80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Цель проекта:</a:t>
            </a: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Разработать аналитический программный комплекс на языке R, реализованный в форме программного пакета, обеспечивающий автоматизированный сбор новостей из TT-RSS, их тематическую обработку, хранение результатов в ClickHouse и предоставление доступа к ним через интерфейс визуализации и MCP-сервер.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22139" y="3262670"/>
            <a:ext cx="3706058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Задачи проекта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22139" y="3952994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22139" y="4245054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9" name="Text 6"/>
          <p:cNvSpPr/>
          <p:nvPr/>
        </p:nvSpPr>
        <p:spPr>
          <a:xfrm>
            <a:off x="922139" y="4383405"/>
            <a:ext cx="4161115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Реализовать ETL-модуль для получения данных из API TT-RSS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34583" y="3952994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4583" y="4245054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2" name="Text 9"/>
          <p:cNvSpPr/>
          <p:nvPr/>
        </p:nvSpPr>
        <p:spPr>
          <a:xfrm>
            <a:off x="5234583" y="4383405"/>
            <a:ext cx="416111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Преобразовать данные в формат tidy data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547027" y="3952994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47027" y="4245054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5" name="Text 12"/>
          <p:cNvSpPr/>
          <p:nvPr/>
        </p:nvSpPr>
        <p:spPr>
          <a:xfrm>
            <a:off x="9547027" y="4383405"/>
            <a:ext cx="4161115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Реализовать модуль тематической обработки и категоризации новостей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22139" y="5212080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22139" y="5504140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922139" y="5642491"/>
            <a:ext cx="4161115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Организовать хранение новостей и результатов обработки в ClickHouse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234583" y="5212080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234583" y="5504140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1" name="Text 18"/>
          <p:cNvSpPr/>
          <p:nvPr/>
        </p:nvSpPr>
        <p:spPr>
          <a:xfrm>
            <a:off x="5234583" y="5642491"/>
            <a:ext cx="4161115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Разработать интерфейс визуализации на Shiny или Quarto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547027" y="5212080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9547027" y="5504140"/>
            <a:ext cx="4161115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4" name="Text 21"/>
          <p:cNvSpPr/>
          <p:nvPr/>
        </p:nvSpPr>
        <p:spPr>
          <a:xfrm>
            <a:off x="9547027" y="5642491"/>
            <a:ext cx="4161115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Реализовать MCP-сервер для взаимодействия с ИИ-агентами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22139" y="6471166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22139" y="6763226"/>
            <a:ext cx="12786003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7" name="Text 24"/>
          <p:cNvSpPr/>
          <p:nvPr/>
        </p:nvSpPr>
        <p:spPr>
          <a:xfrm>
            <a:off x="922139" y="6901577"/>
            <a:ext cx="12786003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Обеспечить тестирование, документирование и воспроизводимость решения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236" y="668417"/>
            <a:ext cx="10080188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Концепция разрабатываемой системы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2236" y="1727835"/>
            <a:ext cx="13145929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Система представляет собой автоматизированный конвейер, который: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36" y="2279094"/>
            <a:ext cx="6572964" cy="848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4286" y="3325654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RSS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54286" y="3775948"/>
            <a:ext cx="6148864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Подключается к TT-RSS через API; получает сырые новостные потоки по информационной безопасности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79094"/>
            <a:ext cx="6572964" cy="848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7250" y="3325654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ETL на R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527250" y="3775948"/>
            <a:ext cx="6148864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Очищает и нормализует данные; выполняет тематическую обработку текстов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36" y="4644509"/>
            <a:ext cx="6572964" cy="848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4286" y="5691068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ClickHouse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54286" y="6141363"/>
            <a:ext cx="6148864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Сохраняет результаты в аналитическое хранилище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44509"/>
            <a:ext cx="6572964" cy="848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7250" y="5691068"/>
            <a:ext cx="270974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Shiny / Quarto / MCP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527250" y="6141363"/>
            <a:ext cx="6148864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Предоставляет доступ к данным через интерфейс и MCP-сервер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42236" y="7232928"/>
            <a:ext cx="13145929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Схема конвейера: </a:t>
            </a:r>
            <a:r>
              <a:rPr lang="en-US" sz="16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RSS → TT-RSS → ETL на R → тематическая обработка → ClickHouse → Shiny / Quarto / MCP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673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Архитектура аналитического программного комплекса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44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Архитектура взаимодействия источников данных, агрегатора TT-RSS, ядра на языке R, ClickHouse, пользовательского интерфейса и MCP-сервера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4235410"/>
            <a:ext cx="6571417" cy="2497455"/>
          </a:xfrm>
          <a:prstGeom prst="roundRect">
            <a:avLst>
              <a:gd name="adj" fmla="val 653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4462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Уровни системы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5043368"/>
            <a:ext cx="611778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Внешние RSS-источники поступают в агрегатор TT-RSS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R-пакет извлекает и обрабатывает данные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ClickHouse — центральное аналитическое хранилище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462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Точки доступа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504336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Shiny / Quarto — пользовательский интерфейс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MCP-сервер — доступ для ИИ-агентов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Быстрый доступ к данным с обеих сторон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944"/>
            <a:ext cx="100905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Функциональная структура системы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4835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28278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1. Подсистема агрегации источников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12753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TT-RSS как единая точка сбора RSS-лент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04835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282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2. ETL-модуль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277320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Получение данных через API; очистка и нормализация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048351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28278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 Модуль тематической обработки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1275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Классификация и категоризация новостей; формирование текстового корпуса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77489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4911923"/>
            <a:ext cx="40895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4. Аналитическое хранилище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40234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Централизованное хранение в ClickHouse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77489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4911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5. Слой доступа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402342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Shiny / Quarto для пользователя; MCP Server для ИИ-агентов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61773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Функционально система разделена на несколько независимых, но связанных между собой модулей. Такое разбиение позволяет обеспечить расширяемость, повторное использование компонентов и более простое тестирование.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512"/>
            <a:ext cx="11681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Модуль извлечения и подготовки данных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174319"/>
            <a:ext cx="3653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Подключение к API TT-RSS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66473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Автоматизированное соединение с агрегатором новостей через программный интерфейс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3559135"/>
            <a:ext cx="33110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Получение метаданных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0906" y="404955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Получение новостей, заголовков, дат, ссылок и метаданных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4943951"/>
            <a:ext cx="3520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Очистка и нормализация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43437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Очистка и нормализация входных данных; преобразование в формат tidy data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6328767"/>
            <a:ext cx="3113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Загрузка в хранилище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6819186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Загрузка сырых и нормализованных данных в ClickHouse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730" y="1028938"/>
            <a:ext cx="12610981" cy="620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Тематическая обработка и категоризация новостей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730" y="2083475"/>
            <a:ext cx="24815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Этапы обработки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44" y="2598718"/>
            <a:ext cx="297775" cy="297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9810" y="2589014"/>
            <a:ext cx="57332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Анализ текстового содержимого новостей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44" y="3551456"/>
            <a:ext cx="297775" cy="297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9810" y="3541752"/>
            <a:ext cx="57332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Выделение тематических групп и категорий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44" y="4504194"/>
            <a:ext cx="297775" cy="2977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39810" y="4494490"/>
            <a:ext cx="57332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Формирование размеченного корпуса текстов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44" y="5456932"/>
            <a:ext cx="297775" cy="2977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39810" y="5447228"/>
            <a:ext cx="57332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Возможность использования правил, NLP-методов и LLM-подходов</a:t>
            </a:r>
            <a:endParaRPr lang="en-US" sz="15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44" y="6409670"/>
            <a:ext cx="297775" cy="2977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39810" y="6399967"/>
            <a:ext cx="57332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Сохранение результатов обработки в ClickHouse</a:t>
            </a:r>
            <a:endParaRPr lang="en-US" sz="1550" dirty="0"/>
          </a:p>
        </p:txBody>
      </p:sp>
      <p:sp>
        <p:nvSpPr>
          <p:cNvPr id="14" name="Shape 7"/>
          <p:cNvSpPr/>
          <p:nvPr/>
        </p:nvSpPr>
        <p:spPr>
          <a:xfrm>
            <a:off x="7421999" y="1909763"/>
            <a:ext cx="6664285" cy="5290899"/>
          </a:xfrm>
          <a:prstGeom prst="roundRect">
            <a:avLst>
              <a:gd name="adj" fmla="val 2702"/>
            </a:avLst>
          </a:prstGeom>
          <a:solidFill>
            <a:srgbClr val="F2F2F3"/>
          </a:solidFill>
          <a:ln/>
        </p:spPr>
      </p:sp>
      <p:sp>
        <p:nvSpPr>
          <p:cNvPr id="15" name="Text 8"/>
          <p:cNvSpPr/>
          <p:nvPr/>
        </p:nvSpPr>
        <p:spPr>
          <a:xfrm>
            <a:off x="7620476" y="2083475"/>
            <a:ext cx="24815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Примеры категорий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7620476" y="2567345"/>
            <a:ext cx="6267331" cy="173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Уязвимости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Инциденты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Вредоносное ПО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Новое программное обеспечение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Средства защиты и инструменты атак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284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ClickHouse как центральное аналитическое хранилище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55056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550563"/>
            <a:ext cx="40836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Централизованное хранение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040981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Централизованное хранение новостей, категорий и аналитических признаков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55056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Быстрые запросы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4040981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Поддержка быстрых аналитических запросов; эффективная работа с большими объемами данных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2041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220414"/>
            <a:ext cx="35754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Единый источник данных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710833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Единый источник данных для визуализации и MCP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22041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Масштабируемость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71083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Возможность масштабирования решения; серверная архитектура для аналитических нагрузок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030"/>
            <a:ext cx="972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Предоставление доступа к данным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238970"/>
            <a:ext cx="6571417" cy="2497455"/>
          </a:xfrm>
          <a:prstGeom prst="roundRect">
            <a:avLst>
              <a:gd name="adj" fmla="val 6539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465784"/>
            <a:ext cx="3595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Пользовательский доступ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046928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Интерфейс на Shiny или Quarto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Фильтрация по темам, источникам и датам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Аналитические таблицы и графики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465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Интеграция с 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046928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MCP-сервер предоставляет доступ к базе знаний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ИИ-агенты получают актуальный контекст из ClickHouse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Система может выступать внешней памятью для LLM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991576"/>
            <a:ext cx="13042821" cy="2047994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10" y="4999196"/>
            <a:ext cx="4342448" cy="2032754"/>
          </a:xfrm>
          <a:prstGeom prst="roundRect">
            <a:avLst>
              <a:gd name="adj" fmla="val 4687"/>
            </a:avLst>
          </a:prstGeom>
          <a:solidFill>
            <a:srgbClr val="3D3D42"/>
          </a:solidFill>
          <a:ln/>
        </p:spPr>
      </p:sp>
      <p:sp>
        <p:nvSpPr>
          <p:cNvPr id="10" name="Text 8"/>
          <p:cNvSpPr/>
          <p:nvPr/>
        </p:nvSpPr>
        <p:spPr>
          <a:xfrm>
            <a:off x="1028224" y="5226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Аналитик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716429"/>
            <a:ext cx="38888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Shiny / Quarto — визуальный интерфейс с фильтрацией и графиками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143857" y="4999196"/>
            <a:ext cx="4342567" cy="2032754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43857" y="4999196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4" name="Text 12"/>
          <p:cNvSpPr/>
          <p:nvPr/>
        </p:nvSpPr>
        <p:spPr>
          <a:xfrm>
            <a:off x="5370671" y="5226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ClickHouse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70671" y="5716429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Единое аналитическое хранилище — центр всей системы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486424" y="4999196"/>
            <a:ext cx="4342567" cy="2032754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424" y="4999196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8" name="Text 16"/>
          <p:cNvSpPr/>
          <p:nvPr/>
        </p:nvSpPr>
        <p:spPr>
          <a:xfrm>
            <a:off x="9713238" y="5226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ИИ-агент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13238" y="5716429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MCP-сервер — внешняя память и контекст для LLM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3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A17B63-5EFE-46A8-BD72-8168F53B1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62" y="2110038"/>
            <a:ext cx="12190476" cy="4009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Произвольный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Poppins Light</vt:lpstr>
      <vt:lpstr>Arial</vt:lpstr>
      <vt:lpstr>Roboto Light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Artem Frank</dc:creator>
  <cp:lastModifiedBy>Artem</cp:lastModifiedBy>
  <cp:revision>2</cp:revision>
  <dcterms:created xsi:type="dcterms:W3CDTF">2026-03-14T10:10:50Z</dcterms:created>
  <dcterms:modified xsi:type="dcterms:W3CDTF">2026-05-17T15:45:50Z</dcterms:modified>
</cp:coreProperties>
</file>